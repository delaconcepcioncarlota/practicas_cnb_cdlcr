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5" autoAdjust="0"/>
    <p:restoredTop sz="94610"/>
  </p:normalViewPr>
  <p:slideViewPr>
    <p:cSldViewPr snapToGrid="0" snapToObjects="1">
      <p:cViewPr>
        <p:scale>
          <a:sx n="119" d="100"/>
          <a:sy n="119" d="100"/>
        </p:scale>
        <p:origin x="102" y="-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8121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1_bg"/>
          <p:cNvSpPr/>
          <p:nvPr/>
        </p:nvSpPr>
        <p:spPr>
          <a:xfrm>
            <a:off x="137160" y="109728"/>
            <a:ext cx="11704320" cy="1737360"/>
          </a:xfrm>
          <a:prstGeom prst="roundRect">
            <a:avLst>
              <a:gd name="adj" fmla="val 7895"/>
            </a:avLst>
          </a:prstGeom>
          <a:solidFill>
            <a:srgbClr val="E8F5EE"/>
          </a:solidFill>
          <a:ln w="15240">
            <a:solidFill>
              <a:srgbClr val="5AAA78"/>
            </a:solidFill>
            <a:prstDash val="solid"/>
          </a:ln>
        </p:spPr>
      </p:sp>
      <p:sp>
        <p:nvSpPr>
          <p:cNvPr id="3" name="circle_1"/>
          <p:cNvSpPr/>
          <p:nvPr/>
        </p:nvSpPr>
        <p:spPr>
          <a:xfrm>
            <a:off x="201168" y="155448"/>
            <a:ext cx="256032" cy="256032"/>
          </a:xfrm>
          <a:prstGeom prst="ellipse">
            <a:avLst/>
          </a:prstGeom>
          <a:solidFill>
            <a:srgbClr val="3A7D52"/>
          </a:solidFill>
          <a:ln w="12700">
            <a:solidFill>
              <a:srgbClr val="3A7D52"/>
            </a:solidFill>
            <a:prstDash val="solid"/>
          </a:ln>
        </p:spPr>
      </p:sp>
      <p:sp>
        <p:nvSpPr>
          <p:cNvPr id="4" name="label_1"/>
          <p:cNvSpPr txBox="1"/>
          <p:nvPr/>
        </p:nvSpPr>
        <p:spPr>
          <a:xfrm>
            <a:off x="201168" y="1554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itle_sec1"/>
          <p:cNvSpPr txBox="1"/>
          <p:nvPr/>
        </p:nvSpPr>
        <p:spPr>
          <a:xfrm>
            <a:off x="5943600" y="201168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A6B42"/>
                </a:solidFill>
              </a:rPr>
              <a:t>Procesamiento de datos brutos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A6B42"/>
                </a:solidFill>
              </a:rPr>
              <a:t>fuera de NADIA</a:t>
            </a:r>
            <a:endParaRPr lang="en-US" sz="1800" dirty="0"/>
          </a:p>
        </p:txBody>
      </p:sp>
      <p:sp>
        <p:nvSpPr>
          <p:cNvPr id="6" name="box_datos_brutos"/>
          <p:cNvSpPr/>
          <p:nvPr/>
        </p:nvSpPr>
        <p:spPr>
          <a:xfrm>
            <a:off x="548640" y="18288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5AAA78"/>
            </a:solidFill>
            <a:prstDash val="solid"/>
          </a:ln>
        </p:spPr>
      </p:sp>
      <p:sp>
        <p:nvSpPr>
          <p:cNvPr id="7" name="text_datos_brutos"/>
          <p:cNvSpPr txBox="1"/>
          <p:nvPr/>
        </p:nvSpPr>
        <p:spPr>
          <a:xfrm>
            <a:off x="548640" y="201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A2E"/>
                </a:solidFill>
              </a:rPr>
              <a:t>Datos brutos</a:t>
            </a:r>
            <a:endParaRPr lang="en-US" sz="1200" dirty="0"/>
          </a:p>
        </p:txBody>
      </p:sp>
      <p:sp>
        <p:nvSpPr>
          <p:cNvPr id="8" name="text_datos_brutos_sub"/>
          <p:cNvSpPr txBox="1"/>
          <p:nvPr/>
        </p:nvSpPr>
        <p:spPr>
          <a:xfrm>
            <a:off x="548640" y="4937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A6B42"/>
                </a:solidFill>
              </a:rPr>
              <a:t>de nanoLC-MS/MS</a:t>
            </a:r>
            <a:endParaRPr lang="en-US" sz="1000" dirty="0"/>
          </a:p>
        </p:txBody>
      </p:sp>
      <p:sp>
        <p:nvSpPr>
          <p:cNvPr id="9" name="arrow_sec1"/>
          <p:cNvSpPr/>
          <p:nvPr/>
        </p:nvSpPr>
        <p:spPr>
          <a:xfrm>
            <a:off x="1554480" y="777240"/>
            <a:ext cx="0" cy="274320"/>
          </a:xfrm>
          <a:prstGeom prst="line">
            <a:avLst/>
          </a:prstGeom>
          <a:noFill/>
          <a:ln w="19050">
            <a:solidFill>
              <a:srgbClr val="3A7D52"/>
            </a:solidFill>
            <a:prstDash val="solid"/>
            <a:tailEnd type="arrow"/>
          </a:ln>
        </p:spPr>
      </p:sp>
      <p:sp>
        <p:nvSpPr>
          <p:cNvPr id="10" name="box_spectronaut"/>
          <p:cNvSpPr/>
          <p:nvPr/>
        </p:nvSpPr>
        <p:spPr>
          <a:xfrm>
            <a:off x="548640" y="1051560"/>
            <a:ext cx="201168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5240">
            <a:solidFill>
              <a:srgbClr val="5AAA78"/>
            </a:solidFill>
            <a:prstDash val="solid"/>
          </a:ln>
        </p:spPr>
      </p:sp>
      <p:sp>
        <p:nvSpPr>
          <p:cNvPr id="11" name="text_spectronaut"/>
          <p:cNvSpPr txBox="1"/>
          <p:nvPr/>
        </p:nvSpPr>
        <p:spPr>
          <a:xfrm>
            <a:off x="548640" y="1069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4A2E"/>
                </a:solidFill>
              </a:rPr>
              <a:t>Spectronaut</a:t>
            </a:r>
            <a:endParaRPr lang="en-US" sz="1200" dirty="0"/>
          </a:p>
        </p:txBody>
      </p:sp>
      <p:sp>
        <p:nvSpPr>
          <p:cNvPr id="12" name="text_spectronaut_sub"/>
          <p:cNvSpPr txBox="1"/>
          <p:nvPr/>
        </p:nvSpPr>
        <p:spPr>
          <a:xfrm>
            <a:off x="548640" y="13441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A6B42"/>
                </a:solidFill>
              </a:rPr>
              <a:t>Inferencia de proteínas</a:t>
            </a:r>
            <a:endParaRPr lang="en-US" sz="1000" dirty="0"/>
          </a:p>
        </p:txBody>
      </p:sp>
      <p:sp>
        <p:nvSpPr>
          <p:cNvPr id="13" name="sec2_bg"/>
          <p:cNvSpPr/>
          <p:nvPr/>
        </p:nvSpPr>
        <p:spPr>
          <a:xfrm>
            <a:off x="137160" y="1938528"/>
            <a:ext cx="11704320" cy="4663440"/>
          </a:xfrm>
          <a:prstGeom prst="roundRect">
            <a:avLst>
              <a:gd name="adj" fmla="val 2941"/>
            </a:avLst>
          </a:prstGeom>
          <a:solidFill>
            <a:srgbClr val="E6EDF8"/>
          </a:solidFill>
          <a:ln w="15240">
            <a:solidFill>
              <a:srgbClr val="4A72B8"/>
            </a:solidFill>
            <a:prstDash val="solid"/>
          </a:ln>
        </p:spPr>
      </p:sp>
      <p:sp>
        <p:nvSpPr>
          <p:cNvPr id="14" name="circle_2"/>
          <p:cNvSpPr/>
          <p:nvPr/>
        </p:nvSpPr>
        <p:spPr>
          <a:xfrm>
            <a:off x="201168" y="2011680"/>
            <a:ext cx="256032" cy="256032"/>
          </a:xfrm>
          <a:prstGeom prst="ellipse">
            <a:avLst/>
          </a:prstGeom>
          <a:solidFill>
            <a:srgbClr val="2A4A8A"/>
          </a:solidFill>
          <a:ln w="12700">
            <a:solidFill>
              <a:srgbClr val="2A4A8A"/>
            </a:solidFill>
            <a:prstDash val="solid"/>
          </a:ln>
        </p:spPr>
      </p:sp>
      <p:sp>
        <p:nvSpPr>
          <p:cNvPr id="15" name="label_2"/>
          <p:cNvSpPr txBox="1"/>
          <p:nvPr/>
        </p:nvSpPr>
        <p:spPr>
          <a:xfrm>
            <a:off x="201168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title_sec2"/>
          <p:cNvSpPr txBox="1"/>
          <p:nvPr/>
        </p:nvSpPr>
        <p:spPr>
          <a:xfrm>
            <a:off x="4114800" y="199339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6B"/>
                </a:solidFill>
              </a:rPr>
              <a:t>Procesamiento dependiente de NADIA</a:t>
            </a:r>
            <a:endParaRPr lang="en-US" sz="1800" dirty="0"/>
          </a:p>
        </p:txBody>
      </p:sp>
      <p:sp>
        <p:nvSpPr>
          <p:cNvPr id="17" name="box_preprocesamiento"/>
          <p:cNvSpPr/>
          <p:nvPr/>
        </p:nvSpPr>
        <p:spPr>
          <a:xfrm>
            <a:off x="502920" y="237744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5240">
            <a:solidFill>
              <a:srgbClr val="4A72B8"/>
            </a:solidFill>
            <a:prstDash val="solid"/>
          </a:ln>
        </p:spPr>
      </p:sp>
      <p:sp>
        <p:nvSpPr>
          <p:cNvPr id="18" name="text_preprocesamiento"/>
          <p:cNvSpPr txBox="1"/>
          <p:nvPr/>
        </p:nvSpPr>
        <p:spPr>
          <a:xfrm>
            <a:off x="502920" y="23957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A6B"/>
                </a:solidFill>
              </a:rPr>
              <a:t>Preprocesamiento con NADIA</a:t>
            </a:r>
            <a:endParaRPr lang="en-US" sz="1100" dirty="0"/>
          </a:p>
        </p:txBody>
      </p:sp>
      <p:sp>
        <p:nvSpPr>
          <p:cNvPr id="19" name="text_preprocesamiento_func"/>
          <p:cNvSpPr txBox="1"/>
          <p:nvPr/>
        </p:nvSpPr>
        <p:spPr>
          <a:xfrm>
            <a:off x="502920" y="26700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A4A8A"/>
                </a:solidFill>
              </a:rPr>
              <a:t>preprocessing_spectronaut()</a:t>
            </a:r>
            <a:endParaRPr lang="en-US" sz="900" dirty="0"/>
          </a:p>
        </p:txBody>
      </p:sp>
      <p:sp>
        <p:nvSpPr>
          <p:cNvPr id="20" name="arrow_to_norm"/>
          <p:cNvSpPr/>
          <p:nvPr/>
        </p:nvSpPr>
        <p:spPr>
          <a:xfrm>
            <a:off x="1051560" y="3017520"/>
            <a:ext cx="0" cy="320040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sp>
        <p:nvSpPr>
          <p:cNvPr id="21" name="arrow_to_imp"/>
          <p:cNvSpPr/>
          <p:nvPr/>
        </p:nvSpPr>
        <p:spPr>
          <a:xfrm>
            <a:off x="1965960" y="3017520"/>
            <a:ext cx="0" cy="320040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sp>
        <p:nvSpPr>
          <p:cNvPr id="22" name="box_norm"/>
          <p:cNvSpPr/>
          <p:nvPr/>
        </p:nvSpPr>
        <p:spPr>
          <a:xfrm>
            <a:off x="256032" y="33375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D0DAF0"/>
          </a:solidFill>
          <a:ln w="15240">
            <a:solidFill>
              <a:srgbClr val="4A72B8"/>
            </a:solidFill>
            <a:prstDash val="solid"/>
          </a:ln>
        </p:spPr>
      </p:sp>
      <p:sp>
        <p:nvSpPr>
          <p:cNvPr id="23" name="text_norm"/>
          <p:cNvSpPr txBox="1"/>
          <p:nvPr/>
        </p:nvSpPr>
        <p:spPr>
          <a:xfrm>
            <a:off x="256032" y="33558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A6B"/>
                </a:solidFill>
              </a:rPr>
              <a:t>Análisis de métricas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3A6B"/>
                </a:solidFill>
              </a:rPr>
              <a:t>de normalización</a:t>
            </a:r>
            <a:endParaRPr lang="en-US" sz="1100" dirty="0"/>
          </a:p>
        </p:txBody>
      </p:sp>
      <p:sp>
        <p:nvSpPr>
          <p:cNvPr id="24" name="text_norm_func"/>
          <p:cNvSpPr txBox="1"/>
          <p:nvPr/>
        </p:nvSpPr>
        <p:spPr>
          <a:xfrm>
            <a:off x="256032" y="381304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2A4A8A"/>
                </a:solidFill>
              </a:rPr>
              <a:t>nm_prepare_se()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2A4A8A"/>
                </a:solidFill>
              </a:rPr>
              <a:t>normalization_metrics()</a:t>
            </a:r>
            <a:endParaRPr lang="en-US" sz="850" dirty="0"/>
          </a:p>
        </p:txBody>
      </p:sp>
      <p:sp>
        <p:nvSpPr>
          <p:cNvPr id="25" name="box_imp"/>
          <p:cNvSpPr/>
          <p:nvPr/>
        </p:nvSpPr>
        <p:spPr>
          <a:xfrm>
            <a:off x="2468880" y="3337560"/>
            <a:ext cx="2286000" cy="960120"/>
          </a:xfrm>
          <a:prstGeom prst="roundRect">
            <a:avLst>
              <a:gd name="adj" fmla="val 7619"/>
            </a:avLst>
          </a:prstGeom>
          <a:solidFill>
            <a:srgbClr val="D0DAF0"/>
          </a:solidFill>
          <a:ln w="15240">
            <a:solidFill>
              <a:srgbClr val="4A72B8"/>
            </a:solidFill>
            <a:prstDash val="solid"/>
          </a:ln>
        </p:spPr>
      </p:sp>
      <p:sp>
        <p:nvSpPr>
          <p:cNvPr id="26" name="text_imp"/>
          <p:cNvSpPr txBox="1"/>
          <p:nvPr/>
        </p:nvSpPr>
        <p:spPr>
          <a:xfrm>
            <a:off x="2468880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3A6B"/>
                </a:solidFill>
              </a:rPr>
              <a:t>Análisis de métricas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A3A6B"/>
                </a:solidFill>
              </a:rPr>
              <a:t>de imputación</a:t>
            </a:r>
            <a:endParaRPr lang="en-US" sz="1100" dirty="0"/>
          </a:p>
        </p:txBody>
      </p:sp>
      <p:sp>
        <p:nvSpPr>
          <p:cNvPr id="27" name="text_imp_sub"/>
          <p:cNvSpPr txBox="1"/>
          <p:nvPr/>
        </p:nvSpPr>
        <p:spPr>
          <a:xfrm>
            <a:off x="2468880" y="37216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3A6B"/>
                </a:solidFill>
              </a:rPr>
              <a:t>(para NAs MAR)</a:t>
            </a:r>
            <a:endParaRPr lang="en-US" sz="900" dirty="0"/>
          </a:p>
        </p:txBody>
      </p:sp>
      <p:sp>
        <p:nvSpPr>
          <p:cNvPr id="28" name="text_imp_func"/>
          <p:cNvSpPr txBox="1"/>
          <p:nvPr/>
        </p:nvSpPr>
        <p:spPr>
          <a:xfrm>
            <a:off x="2468880" y="39227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2A4A8A"/>
                </a:solidFill>
              </a:rPr>
              <a:t>im_prepare_se()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2A4A8A"/>
                </a:solidFill>
              </a:rPr>
              <a:t>imputation_metrics()</a:t>
            </a:r>
            <a:endParaRPr lang="en-US" sz="850" dirty="0"/>
          </a:p>
        </p:txBody>
      </p:sp>
      <p:sp>
        <p:nvSpPr>
          <p:cNvPr id="29" name="text_benchmarking_desc"/>
          <p:cNvSpPr txBox="1"/>
          <p:nvPr/>
        </p:nvSpPr>
        <p:spPr>
          <a:xfrm>
            <a:off x="5120640" y="23774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A2060"/>
                </a:solidFill>
              </a:rPr>
              <a:t>El benchmarking evalúa la salida de
</a:t>
            </a:r>
            <a:r>
              <a:rPr lang="en-US" sz="1000" b="1" i="1" dirty="0">
                <a:solidFill>
                  <a:srgbClr val="8A2060"/>
                </a:solidFill>
              </a:rPr>
              <a:t>process_proteomics()</a:t>
            </a:r>
            <a:r>
              <a:rPr lang="en-US" sz="1000" b="1" dirty="0">
                <a:solidFill>
                  <a:srgbClr val="8A2060"/>
                </a:solidFill>
              </a:rPr>
              <a:t>. Valida los métodos de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8A2060"/>
                </a:solidFill>
              </a:rPr>
              <a:t>normalización e imputación MAR y 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8A2060"/>
                </a:solidFill>
              </a:rPr>
              <a:t>la única opción en NADIA para evaluar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8A2060"/>
                </a:solidFill>
              </a:rPr>
              <a:t>métodos de imputación MNAR.</a:t>
            </a:r>
            <a:endParaRPr lang="en-US" sz="1000" dirty="0"/>
          </a:p>
        </p:txBody>
      </p:sp>
      <p:sp>
        <p:nvSpPr>
          <p:cNvPr id="30" name="box_benchmarking"/>
          <p:cNvSpPr/>
          <p:nvPr/>
        </p:nvSpPr>
        <p:spPr>
          <a:xfrm>
            <a:off x="5120640" y="3383280"/>
            <a:ext cx="3474720" cy="822960"/>
          </a:xfrm>
          <a:prstGeom prst="roundRect">
            <a:avLst>
              <a:gd name="adj" fmla="val 8889"/>
            </a:avLst>
          </a:prstGeom>
          <a:solidFill>
            <a:srgbClr val="F7D8E8"/>
          </a:solidFill>
          <a:ln w="19050">
            <a:solidFill>
              <a:srgbClr val="C0508A"/>
            </a:solidFill>
            <a:prstDash val="dash"/>
          </a:ln>
        </p:spPr>
      </p:sp>
      <p:sp>
        <p:nvSpPr>
          <p:cNvPr id="31" name="text_spikein_label"/>
          <p:cNvSpPr txBox="1"/>
          <p:nvPr/>
        </p:nvSpPr>
        <p:spPr>
          <a:xfrm>
            <a:off x="5166360" y="3401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8A2A5A"/>
                </a:solidFill>
              </a:rPr>
              <a:t>Cuando hay proteínas spike-in disponibles</a:t>
            </a:r>
            <a:endParaRPr lang="en-US" sz="850" dirty="0"/>
          </a:p>
        </p:txBody>
      </p:sp>
      <p:sp>
        <p:nvSpPr>
          <p:cNvPr id="32" name="text_benchmarking_title"/>
          <p:cNvSpPr txBox="1"/>
          <p:nvPr/>
        </p:nvSpPr>
        <p:spPr>
          <a:xfrm>
            <a:off x="5120640" y="360273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A2060"/>
                </a:solidFill>
              </a:rPr>
              <a:t>Benchmarking con proteínas spike-in</a:t>
            </a:r>
            <a:endParaRPr lang="en-US" sz="1100" dirty="0"/>
          </a:p>
        </p:txBody>
      </p:sp>
      <p:sp>
        <p:nvSpPr>
          <p:cNvPr id="33" name="text_benchmarking_func"/>
          <p:cNvSpPr txBox="1"/>
          <p:nvPr/>
        </p:nvSpPr>
        <p:spPr>
          <a:xfrm>
            <a:off x="5120640" y="3858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2A5A"/>
                </a:solidFill>
              </a:rPr>
              <a:t>benchmarking_proteomics()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A2A5A"/>
                </a:solidFill>
              </a:rPr>
              <a:t>benchmarking_multiple()</a:t>
            </a:r>
            <a:endParaRPr lang="en-US" sz="850" dirty="0"/>
          </a:p>
        </p:txBody>
      </p:sp>
      <p:sp>
        <p:nvSpPr>
          <p:cNvPr id="34" name="arrow_imp_to_bench"/>
          <p:cNvSpPr/>
          <p:nvPr/>
        </p:nvSpPr>
        <p:spPr>
          <a:xfrm>
            <a:off x="4754880" y="3767328"/>
            <a:ext cx="365760" cy="0"/>
          </a:xfrm>
          <a:prstGeom prst="line">
            <a:avLst/>
          </a:prstGeom>
          <a:noFill/>
          <a:ln w="19050">
            <a:solidFill>
              <a:srgbClr val="C0508A"/>
            </a:solidFill>
            <a:prstDash val="dash"/>
            <a:tailEnd type="arrow"/>
          </a:ln>
        </p:spPr>
      </p:sp>
      <p:sp>
        <p:nvSpPr>
          <p:cNvPr id="35" name="box_proteinas"/>
          <p:cNvSpPr/>
          <p:nvPr/>
        </p:nvSpPr>
        <p:spPr>
          <a:xfrm>
            <a:off x="502920" y="480060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D0DAF0"/>
          </a:solidFill>
          <a:ln w="19050">
            <a:solidFill>
              <a:srgbClr val="4A72B8"/>
            </a:solidFill>
            <a:prstDash val="solid"/>
          </a:ln>
        </p:spPr>
      </p:sp>
      <p:sp>
        <p:nvSpPr>
          <p:cNvPr id="36" name="text_proteinas"/>
          <p:cNvSpPr txBox="1"/>
          <p:nvPr/>
        </p:nvSpPr>
        <p:spPr>
          <a:xfrm>
            <a:off x="502920" y="48188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3A6B"/>
                </a:solidFill>
              </a:rPr>
              <a:t>Proteínas expresadas diferencialmente</a:t>
            </a:r>
            <a:endParaRPr lang="en-US" sz="1200" dirty="0"/>
          </a:p>
        </p:txBody>
      </p:sp>
      <p:sp>
        <p:nvSpPr>
          <p:cNvPr id="37" name="text_proteinas_func"/>
          <p:cNvSpPr txBox="1"/>
          <p:nvPr/>
        </p:nvSpPr>
        <p:spPr>
          <a:xfrm>
            <a:off x="502920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2A4A8A"/>
                </a:solidFill>
              </a:rPr>
              <a:t>process_proteomics()</a:t>
            </a:r>
            <a:endParaRPr lang="en-US" sz="950" dirty="0"/>
          </a:p>
        </p:txBody>
      </p:sp>
      <p:sp>
        <p:nvSpPr>
          <p:cNvPr id="38" name="arrow_norm_to_prot"/>
          <p:cNvSpPr/>
          <p:nvPr/>
        </p:nvSpPr>
        <p:spPr>
          <a:xfrm>
            <a:off x="1005840" y="4160520"/>
            <a:ext cx="0" cy="640080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sp>
        <p:nvSpPr>
          <p:cNvPr id="39" name="arrow_prot_to_bench"/>
          <p:cNvSpPr/>
          <p:nvPr/>
        </p:nvSpPr>
        <p:spPr>
          <a:xfrm>
            <a:off x="3794760" y="5138928"/>
            <a:ext cx="1325880" cy="0"/>
          </a:xfrm>
          <a:prstGeom prst="line">
            <a:avLst/>
          </a:prstGeom>
          <a:noFill/>
          <a:ln w="19050">
            <a:solidFill>
              <a:srgbClr val="C0508A"/>
            </a:solidFill>
            <a:prstDash val="dash"/>
            <a:tailEnd type="arrow"/>
          </a:ln>
        </p:spPr>
      </p:sp>
      <p:sp>
        <p:nvSpPr>
          <p:cNvPr id="40" name="arrow_bench_to_prot"/>
          <p:cNvSpPr/>
          <p:nvPr/>
        </p:nvSpPr>
        <p:spPr>
          <a:xfrm>
            <a:off x="5120640" y="4297680"/>
            <a:ext cx="0" cy="841248"/>
          </a:xfrm>
          <a:prstGeom prst="line">
            <a:avLst/>
          </a:prstGeom>
          <a:noFill/>
          <a:ln w="19050">
            <a:solidFill>
              <a:srgbClr val="C0508A"/>
            </a:solidFill>
            <a:prstDash val="dash"/>
            <a:tailEnd type="arrow"/>
          </a:ln>
        </p:spPr>
      </p:sp>
      <p:sp>
        <p:nvSpPr>
          <p:cNvPr id="41" name="text_mejores_metodos"/>
          <p:cNvSpPr txBox="1"/>
          <p:nvPr/>
        </p:nvSpPr>
        <p:spPr>
          <a:xfrm>
            <a:off x="3931920" y="4480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8A2A5A"/>
                </a:solidFill>
              </a:rPr>
              <a:t>Mejores métodos de normalización</a:t>
            </a:r>
            <a:endParaRPr lang="en-US" sz="850" dirty="0"/>
          </a:p>
          <a:p>
            <a:pPr marL="0" indent="0" algn="ctr">
              <a:buNone/>
            </a:pPr>
            <a:r>
              <a:rPr lang="en-US" sz="850" i="1" dirty="0">
                <a:solidFill>
                  <a:srgbClr val="8A2A5A"/>
                </a:solidFill>
              </a:rPr>
              <a:t>e imputación</a:t>
            </a:r>
            <a:endParaRPr lang="en-US" sz="850" dirty="0"/>
          </a:p>
        </p:txBody>
      </p:sp>
      <p:sp>
        <p:nvSpPr>
          <p:cNvPr id="42" name="text_metodos_sel"/>
          <p:cNvSpPr txBox="1"/>
          <p:nvPr/>
        </p:nvSpPr>
        <p:spPr>
          <a:xfrm>
            <a:off x="256032" y="44805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3A6B"/>
                </a:solidFill>
              </a:rPr>
              <a:t>Métodos de normalización e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1A3A6B"/>
                </a:solidFill>
              </a:rPr>
              <a:t>imputación seleccionados</a:t>
            </a:r>
            <a:endParaRPr lang="en-US" sz="850" dirty="0"/>
          </a:p>
        </p:txBody>
      </p:sp>
      <p:sp>
        <p:nvSpPr>
          <p:cNvPr id="43" name="box_funcional"/>
          <p:cNvSpPr/>
          <p:nvPr/>
        </p:nvSpPr>
        <p:spPr>
          <a:xfrm>
            <a:off x="8961120" y="4389120"/>
            <a:ext cx="2560320" cy="502920"/>
          </a:xfrm>
          <a:prstGeom prst="roundRect">
            <a:avLst>
              <a:gd name="adj" fmla="val 14545"/>
            </a:avLst>
          </a:prstGeom>
          <a:solidFill>
            <a:srgbClr val="D0DAF0"/>
          </a:solidFill>
          <a:ln w="19050">
            <a:solidFill>
              <a:srgbClr val="4A72B8"/>
            </a:solidFill>
            <a:prstDash val="dash"/>
          </a:ln>
        </p:spPr>
      </p:sp>
      <p:sp>
        <p:nvSpPr>
          <p:cNvPr id="44" name="text_funcional"/>
          <p:cNvSpPr txBox="1"/>
          <p:nvPr/>
        </p:nvSpPr>
        <p:spPr>
          <a:xfrm>
            <a:off x="8961120" y="44074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6B"/>
                </a:solidFill>
              </a:rPr>
              <a:t>Análisis funcional</a:t>
            </a:r>
            <a:endParaRPr lang="en-US" sz="1300" dirty="0"/>
          </a:p>
        </p:txBody>
      </p:sp>
      <p:sp>
        <p:nvSpPr>
          <p:cNvPr id="45" name="box_patrones"/>
          <p:cNvSpPr/>
          <p:nvPr/>
        </p:nvSpPr>
        <p:spPr>
          <a:xfrm>
            <a:off x="8961120" y="530352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D0DAF0"/>
          </a:solidFill>
          <a:ln w="19050">
            <a:solidFill>
              <a:srgbClr val="4A72B8"/>
            </a:solidFill>
            <a:prstDash val="dash"/>
          </a:ln>
        </p:spPr>
      </p:sp>
      <p:sp>
        <p:nvSpPr>
          <p:cNvPr id="46" name="text_patrones"/>
          <p:cNvSpPr txBox="1"/>
          <p:nvPr/>
        </p:nvSpPr>
        <p:spPr>
          <a:xfrm>
            <a:off x="8961120" y="53218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3A6B"/>
                </a:solidFill>
              </a:rPr>
              <a:t>Perfilado de patrones</a:t>
            </a:r>
            <a:endParaRPr lang="en-US" sz="1300" dirty="0"/>
          </a:p>
        </p:txBody>
      </p:sp>
      <p:sp>
        <p:nvSpPr>
          <p:cNvPr id="47" name="text_patrones_func"/>
          <p:cNvSpPr txBox="1"/>
          <p:nvPr/>
        </p:nvSpPr>
        <p:spPr>
          <a:xfrm>
            <a:off x="8961120" y="56418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A4A8A"/>
                </a:solidFill>
              </a:rPr>
              <a:t>paquete Mfuzz</a:t>
            </a:r>
            <a:endParaRPr lang="en-US" sz="900" dirty="0"/>
          </a:p>
        </p:txBody>
      </p:sp>
      <p:sp>
        <p:nvSpPr>
          <p:cNvPr id="48" name="arrow_prot_to_func"/>
          <p:cNvSpPr/>
          <p:nvPr/>
        </p:nvSpPr>
        <p:spPr>
          <a:xfrm>
            <a:off x="3794760" y="5138928"/>
            <a:ext cx="5166360" cy="0"/>
          </a:xfrm>
          <a:prstGeom prst="line">
            <a:avLst/>
          </a:prstGeom>
          <a:noFill/>
          <a:ln w="19050">
            <a:solidFill>
              <a:srgbClr val="1A3A6B"/>
            </a:solidFill>
            <a:prstDash val="solid"/>
            <a:tailEnd type="arrow"/>
          </a:ln>
        </p:spPr>
      </p:sp>
      <p:sp>
        <p:nvSpPr>
          <p:cNvPr id="49" name="arrow_prot_to_pat"/>
          <p:cNvSpPr/>
          <p:nvPr/>
        </p:nvSpPr>
        <p:spPr>
          <a:xfrm>
            <a:off x="3794760" y="5257800"/>
            <a:ext cx="5166360" cy="292608"/>
          </a:xfrm>
          <a:prstGeom prst="line">
            <a:avLst/>
          </a:prstGeom>
          <a:noFill/>
          <a:ln w="19050">
            <a:solidFill>
              <a:srgbClr val="1A3A6B"/>
            </a:solidFill>
            <a:prstDash val="dash"/>
            <a:tailEnd type="arrow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</Words>
  <Application>Microsoft Office PowerPoint</Application>
  <PresentationFormat>Widescreen</PresentationFormat>
  <Paragraphs>38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Proteomica</cp:lastModifiedBy>
  <cp:revision>1</cp:revision>
  <dcterms:created xsi:type="dcterms:W3CDTF">2026-10-14T09:03:11Z</dcterms:created>
  <dcterms:modified xsi:type="dcterms:W3CDTF">2026-10-14T09:06:31Z</dcterms:modified>
</cp:coreProperties>
</file>