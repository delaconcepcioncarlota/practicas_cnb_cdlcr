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2060"/>
    <a:srgbClr val="1A3A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82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8121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1_bg"/>
          <p:cNvSpPr/>
          <p:nvPr/>
        </p:nvSpPr>
        <p:spPr>
          <a:xfrm>
            <a:off x="137160" y="109728"/>
            <a:ext cx="11704320" cy="1737360"/>
          </a:xfrm>
          <a:prstGeom prst="roundRect">
            <a:avLst>
              <a:gd name="adj" fmla="val 7895"/>
            </a:avLst>
          </a:prstGeom>
          <a:solidFill>
            <a:srgbClr val="E8F5EE"/>
          </a:solidFill>
          <a:ln w="15240">
            <a:solidFill>
              <a:srgbClr val="5AAA78"/>
            </a:solidFill>
            <a:prstDash val="solid"/>
          </a:ln>
        </p:spPr>
      </p:sp>
      <p:sp>
        <p:nvSpPr>
          <p:cNvPr id="3" name="circle_1"/>
          <p:cNvSpPr/>
          <p:nvPr/>
        </p:nvSpPr>
        <p:spPr>
          <a:xfrm>
            <a:off x="201168" y="155448"/>
            <a:ext cx="256032" cy="256032"/>
          </a:xfrm>
          <a:prstGeom prst="ellipse">
            <a:avLst/>
          </a:prstGeom>
          <a:solidFill>
            <a:srgbClr val="3A7D52"/>
          </a:solidFill>
          <a:ln w="12700">
            <a:solidFill>
              <a:srgbClr val="3A7D52"/>
            </a:solidFill>
            <a:prstDash val="solid"/>
          </a:ln>
        </p:spPr>
      </p:sp>
      <p:sp>
        <p:nvSpPr>
          <p:cNvPr id="4" name="label_1"/>
          <p:cNvSpPr txBox="1"/>
          <p:nvPr/>
        </p:nvSpPr>
        <p:spPr>
          <a:xfrm>
            <a:off x="201168" y="155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title_sec1"/>
          <p:cNvSpPr txBox="1"/>
          <p:nvPr/>
        </p:nvSpPr>
        <p:spPr>
          <a:xfrm>
            <a:off x="5046135" y="521208"/>
            <a:ext cx="620098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A6B42"/>
                </a:solidFill>
              </a:rPr>
              <a:t>Procesamiento de datos brutos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2A6B42"/>
                </a:solidFill>
              </a:rPr>
              <a:t>fuera de NADIA</a:t>
            </a:r>
            <a:endParaRPr lang="en-US" sz="32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DBB1EA9-9FC1-40F3-8A26-2B9FBD948335}"/>
              </a:ext>
            </a:extLst>
          </p:cNvPr>
          <p:cNvGrpSpPr/>
          <p:nvPr/>
        </p:nvGrpSpPr>
        <p:grpSpPr>
          <a:xfrm>
            <a:off x="2019800" y="226568"/>
            <a:ext cx="2011680" cy="594360"/>
            <a:chOff x="548640" y="182880"/>
            <a:chExt cx="2011680" cy="594360"/>
          </a:xfrm>
        </p:grpSpPr>
        <p:sp>
          <p:nvSpPr>
            <p:cNvPr id="6" name="box_datos_brutos"/>
            <p:cNvSpPr/>
            <p:nvPr/>
          </p:nvSpPr>
          <p:spPr>
            <a:xfrm>
              <a:off x="548640" y="182880"/>
              <a:ext cx="2011680" cy="59436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5240">
              <a:solidFill>
                <a:srgbClr val="5AAA78"/>
              </a:solidFill>
              <a:prstDash val="solid"/>
            </a:ln>
          </p:spPr>
        </p:sp>
        <p:sp>
          <p:nvSpPr>
            <p:cNvPr id="7" name="text_datos_brutos"/>
            <p:cNvSpPr txBox="1"/>
            <p:nvPr/>
          </p:nvSpPr>
          <p:spPr>
            <a:xfrm>
              <a:off x="548640" y="201168"/>
              <a:ext cx="2011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A4A2E"/>
                  </a:solidFill>
                </a:rPr>
                <a:t>Datos brutos</a:t>
              </a:r>
              <a:endParaRPr lang="en-US" sz="1400" dirty="0"/>
            </a:p>
          </p:txBody>
        </p:sp>
        <p:sp>
          <p:nvSpPr>
            <p:cNvPr id="8" name="text_datos_brutos_sub"/>
            <p:cNvSpPr txBox="1"/>
            <p:nvPr/>
          </p:nvSpPr>
          <p:spPr>
            <a:xfrm>
              <a:off x="548640" y="493776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2A6B42"/>
                  </a:solidFill>
                </a:rPr>
                <a:t>de nanoLC-MS/MS</a:t>
              </a:r>
              <a:endParaRPr lang="en-US" sz="1050" dirty="0"/>
            </a:p>
          </p:txBody>
        </p:sp>
      </p:grpSp>
      <p:sp>
        <p:nvSpPr>
          <p:cNvPr id="9" name="arrow_sec1"/>
          <p:cNvSpPr/>
          <p:nvPr/>
        </p:nvSpPr>
        <p:spPr>
          <a:xfrm>
            <a:off x="3023768" y="820928"/>
            <a:ext cx="0" cy="274320"/>
          </a:xfrm>
          <a:prstGeom prst="line">
            <a:avLst/>
          </a:prstGeom>
          <a:noFill/>
          <a:ln w="19050">
            <a:solidFill>
              <a:srgbClr val="3A7D52"/>
            </a:solidFill>
            <a:prstDash val="solid"/>
            <a:tailEnd type="arrow"/>
          </a:ln>
        </p:spPr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72EEA64-6CCD-4D90-8FEC-9CDA924D42F0}"/>
              </a:ext>
            </a:extLst>
          </p:cNvPr>
          <p:cNvGrpSpPr/>
          <p:nvPr/>
        </p:nvGrpSpPr>
        <p:grpSpPr>
          <a:xfrm>
            <a:off x="2019800" y="1095248"/>
            <a:ext cx="2011680" cy="594360"/>
            <a:chOff x="548640" y="1051560"/>
            <a:chExt cx="2011680" cy="594360"/>
          </a:xfrm>
        </p:grpSpPr>
        <p:sp>
          <p:nvSpPr>
            <p:cNvPr id="10" name="box_spectronaut"/>
            <p:cNvSpPr/>
            <p:nvPr/>
          </p:nvSpPr>
          <p:spPr>
            <a:xfrm>
              <a:off x="548640" y="1051560"/>
              <a:ext cx="2011680" cy="59436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15240">
              <a:solidFill>
                <a:srgbClr val="5AAA78"/>
              </a:solidFill>
              <a:prstDash val="solid"/>
            </a:ln>
          </p:spPr>
        </p:sp>
        <p:sp>
          <p:nvSpPr>
            <p:cNvPr id="11" name="text_spectronaut"/>
            <p:cNvSpPr txBox="1"/>
            <p:nvPr/>
          </p:nvSpPr>
          <p:spPr>
            <a:xfrm>
              <a:off x="548640" y="1069848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A4A2E"/>
                  </a:solidFill>
                </a:rPr>
                <a:t>Spectronaut</a:t>
              </a:r>
              <a:endParaRPr lang="en-US" sz="1400" dirty="0"/>
            </a:p>
          </p:txBody>
        </p:sp>
        <p:sp>
          <p:nvSpPr>
            <p:cNvPr id="12" name="text_spectronaut_sub"/>
            <p:cNvSpPr txBox="1"/>
            <p:nvPr/>
          </p:nvSpPr>
          <p:spPr>
            <a:xfrm>
              <a:off x="548640" y="1344168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2A6B42"/>
                  </a:solidFill>
                </a:rPr>
                <a:t>Inferencia de proteínas</a:t>
              </a:r>
              <a:endParaRPr lang="en-US" sz="1050" dirty="0"/>
            </a:p>
          </p:txBody>
        </p:sp>
      </p:grpSp>
      <p:sp>
        <p:nvSpPr>
          <p:cNvPr id="13" name="sec2_bg"/>
          <p:cNvSpPr/>
          <p:nvPr/>
        </p:nvSpPr>
        <p:spPr>
          <a:xfrm>
            <a:off x="109984" y="1918208"/>
            <a:ext cx="11704320" cy="4663440"/>
          </a:xfrm>
          <a:prstGeom prst="roundRect">
            <a:avLst>
              <a:gd name="adj" fmla="val 2941"/>
            </a:avLst>
          </a:prstGeom>
          <a:solidFill>
            <a:srgbClr val="E6EDF8"/>
          </a:solidFill>
          <a:ln w="15240">
            <a:solidFill>
              <a:srgbClr val="4A72B8"/>
            </a:solidFill>
            <a:prstDash val="solid"/>
          </a:ln>
        </p:spPr>
      </p:sp>
      <p:sp>
        <p:nvSpPr>
          <p:cNvPr id="14" name="circle_2"/>
          <p:cNvSpPr/>
          <p:nvPr/>
        </p:nvSpPr>
        <p:spPr>
          <a:xfrm>
            <a:off x="201168" y="2011680"/>
            <a:ext cx="256032" cy="256032"/>
          </a:xfrm>
          <a:prstGeom prst="ellipse">
            <a:avLst/>
          </a:prstGeom>
          <a:solidFill>
            <a:srgbClr val="2A4A8A"/>
          </a:solidFill>
          <a:ln w="12700">
            <a:solidFill>
              <a:srgbClr val="2A4A8A"/>
            </a:solidFill>
            <a:prstDash val="solid"/>
          </a:ln>
        </p:spPr>
      </p:sp>
      <p:sp>
        <p:nvSpPr>
          <p:cNvPr id="15" name="label_2"/>
          <p:cNvSpPr txBox="1"/>
          <p:nvPr/>
        </p:nvSpPr>
        <p:spPr>
          <a:xfrm>
            <a:off x="201168" y="2011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itle_sec2"/>
          <p:cNvSpPr txBox="1"/>
          <p:nvPr/>
        </p:nvSpPr>
        <p:spPr>
          <a:xfrm>
            <a:off x="4114800" y="207805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algn="ctr">
              <a:buNone/>
              <a:defRPr sz="3200" b="1">
                <a:solidFill>
                  <a:srgbClr val="2A6B42"/>
                </a:solidFill>
              </a:defRPr>
            </a:lvl1pPr>
          </a:lstStyle>
          <a:p>
            <a:r>
              <a:rPr lang="en-US" dirty="0" err="1">
                <a:solidFill>
                  <a:srgbClr val="1A3A6B"/>
                </a:solidFill>
              </a:rPr>
              <a:t>Procesamiento</a:t>
            </a:r>
            <a:r>
              <a:rPr lang="en-US" dirty="0">
                <a:solidFill>
                  <a:srgbClr val="1A3A6B"/>
                </a:solidFill>
              </a:rPr>
              <a:t> </a:t>
            </a:r>
            <a:r>
              <a:rPr lang="en-US" dirty="0" err="1">
                <a:solidFill>
                  <a:srgbClr val="1A3A6B"/>
                </a:solidFill>
              </a:rPr>
              <a:t>dependiente</a:t>
            </a:r>
            <a:r>
              <a:rPr lang="en-US" dirty="0">
                <a:solidFill>
                  <a:srgbClr val="1A3A6B"/>
                </a:solidFill>
              </a:rPr>
              <a:t> de NADIA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15A0462-D31D-47D1-84CF-32F9B635FBF1}"/>
              </a:ext>
            </a:extLst>
          </p:cNvPr>
          <p:cNvGrpSpPr/>
          <p:nvPr/>
        </p:nvGrpSpPr>
        <p:grpSpPr>
          <a:xfrm>
            <a:off x="1745480" y="2201672"/>
            <a:ext cx="2560320" cy="640080"/>
            <a:chOff x="1188720" y="2157984"/>
            <a:chExt cx="2560320" cy="640080"/>
          </a:xfrm>
        </p:grpSpPr>
        <p:sp>
          <p:nvSpPr>
            <p:cNvPr id="17" name="box_preprocesamiento"/>
            <p:cNvSpPr/>
            <p:nvPr/>
          </p:nvSpPr>
          <p:spPr>
            <a:xfrm>
              <a:off x="1188720" y="2157984"/>
              <a:ext cx="2560320" cy="64008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5240">
              <a:solidFill>
                <a:srgbClr val="4A72B8"/>
              </a:solidFill>
              <a:prstDash val="solid"/>
            </a:ln>
          </p:spPr>
        </p:sp>
        <p:sp>
          <p:nvSpPr>
            <p:cNvPr id="18" name="text_preprocesamiento"/>
            <p:cNvSpPr txBox="1"/>
            <p:nvPr/>
          </p:nvSpPr>
          <p:spPr>
            <a:xfrm>
              <a:off x="1188720" y="2176272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A3A6B"/>
                  </a:solidFill>
                </a:rPr>
                <a:t>Preprocesamiento con NADIA</a:t>
              </a:r>
              <a:endParaRPr lang="en-US" sz="1400" dirty="0"/>
            </a:p>
          </p:txBody>
        </p:sp>
        <p:sp>
          <p:nvSpPr>
            <p:cNvPr id="19" name="text_preprocesamiento_func"/>
            <p:cNvSpPr txBox="1"/>
            <p:nvPr/>
          </p:nvSpPr>
          <p:spPr>
            <a:xfrm>
              <a:off x="1188720" y="2450592"/>
              <a:ext cx="2560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2A4A8A"/>
                  </a:solidFill>
                </a:rPr>
                <a:t>preprocessing_spectronaut()</a:t>
              </a:r>
              <a:endParaRPr lang="en-US" sz="1000" dirty="0"/>
            </a:p>
          </p:txBody>
        </p:sp>
      </p:grpSp>
      <p:sp>
        <p:nvSpPr>
          <p:cNvPr id="20" name="arrow_to_norm"/>
          <p:cNvSpPr/>
          <p:nvPr/>
        </p:nvSpPr>
        <p:spPr>
          <a:xfrm flipH="1">
            <a:off x="2345266" y="2864600"/>
            <a:ext cx="678502" cy="488167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  <a:tailEnd type="arrow"/>
          </a:ln>
        </p:spPr>
        <p:txBody>
          <a:bodyPr/>
          <a:lstStyle/>
          <a:p>
            <a:endParaRPr lang="es-ES" dirty="0"/>
          </a:p>
        </p:txBody>
      </p:sp>
      <p:sp>
        <p:nvSpPr>
          <p:cNvPr id="21" name="arrow_to_imp"/>
          <p:cNvSpPr/>
          <p:nvPr/>
        </p:nvSpPr>
        <p:spPr>
          <a:xfrm>
            <a:off x="3023772" y="2864612"/>
            <a:ext cx="678502" cy="476072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  <a:tailEnd type="arrow"/>
          </a:ln>
        </p:spPr>
      </p:sp>
      <p:sp>
        <p:nvSpPr>
          <p:cNvPr id="29" name="text_benchmarking_desc"/>
          <p:cNvSpPr txBox="1"/>
          <p:nvPr/>
        </p:nvSpPr>
        <p:spPr>
          <a:xfrm>
            <a:off x="6297424" y="2587743"/>
            <a:ext cx="522401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2060"/>
                </a:solidFill>
              </a:rPr>
              <a:t>La </a:t>
            </a:r>
            <a:r>
              <a:rPr lang="en-US" sz="1600" b="1" dirty="0" err="1">
                <a:solidFill>
                  <a:srgbClr val="8A2060"/>
                </a:solidFill>
              </a:rPr>
              <a:t>función</a:t>
            </a:r>
            <a:r>
              <a:rPr lang="en-US" sz="1600" b="1" dirty="0">
                <a:solidFill>
                  <a:srgbClr val="8A2060"/>
                </a:solidFill>
              </a:rPr>
              <a:t> de </a:t>
            </a:r>
            <a:r>
              <a:rPr lang="en-US" sz="1600" b="1" dirty="0" err="1">
                <a:solidFill>
                  <a:srgbClr val="8A2060"/>
                </a:solidFill>
              </a:rPr>
              <a:t>análisis</a:t>
            </a:r>
            <a:r>
              <a:rPr lang="en-US" sz="1600" b="1" dirty="0">
                <a:solidFill>
                  <a:srgbClr val="8A2060"/>
                </a:solidFill>
              </a:rPr>
              <a:t> </a:t>
            </a:r>
            <a:r>
              <a:rPr lang="en-US" sz="1600" b="1" dirty="0" err="1">
                <a:solidFill>
                  <a:srgbClr val="8A2060"/>
                </a:solidFill>
              </a:rPr>
              <a:t>comparativo</a:t>
            </a:r>
            <a:r>
              <a:rPr lang="en-US" sz="1600" b="1" dirty="0">
                <a:solidFill>
                  <a:srgbClr val="8A2060"/>
                </a:solidFill>
              </a:rPr>
              <a:t> evalúa la </a:t>
            </a:r>
            <a:r>
              <a:rPr lang="en-US" sz="1600" b="1" dirty="0" err="1">
                <a:solidFill>
                  <a:srgbClr val="8A2060"/>
                </a:solidFill>
              </a:rPr>
              <a:t>salida</a:t>
            </a:r>
            <a:r>
              <a:rPr lang="en-US" sz="1600" b="1" dirty="0">
                <a:solidFill>
                  <a:srgbClr val="8A2060"/>
                </a:solidFill>
              </a:rPr>
              <a:t> de </a:t>
            </a:r>
            <a:r>
              <a:rPr lang="en-US" sz="1600" b="1" i="1" dirty="0" err="1">
                <a:solidFill>
                  <a:srgbClr val="8A2060"/>
                </a:solidFill>
              </a:rPr>
              <a:t>process_proteomics</a:t>
            </a:r>
            <a:r>
              <a:rPr lang="en-US" sz="1600" b="1" i="1" dirty="0">
                <a:solidFill>
                  <a:srgbClr val="8A2060"/>
                </a:solidFill>
              </a:rPr>
              <a:t>()</a:t>
            </a:r>
            <a:r>
              <a:rPr lang="en-US" sz="1600" b="1" dirty="0">
                <a:solidFill>
                  <a:srgbClr val="8A2060"/>
                </a:solidFill>
              </a:rPr>
              <a:t>. Valida los </a:t>
            </a:r>
            <a:r>
              <a:rPr lang="en-US" sz="1600" b="1" dirty="0" err="1">
                <a:solidFill>
                  <a:srgbClr val="8A2060"/>
                </a:solidFill>
              </a:rPr>
              <a:t>métodos</a:t>
            </a:r>
            <a:r>
              <a:rPr lang="en-US" sz="1600" b="1" dirty="0">
                <a:solidFill>
                  <a:srgbClr val="8A2060"/>
                </a:solidFill>
              </a:rPr>
              <a:t> de </a:t>
            </a:r>
            <a:r>
              <a:rPr lang="en-US" sz="1600" b="1" dirty="0" err="1">
                <a:solidFill>
                  <a:srgbClr val="8A2060"/>
                </a:solidFill>
              </a:rPr>
              <a:t>normalización</a:t>
            </a:r>
            <a:r>
              <a:rPr lang="en-US" sz="1600" b="1" dirty="0">
                <a:solidFill>
                  <a:srgbClr val="8A2060"/>
                </a:solidFill>
              </a:rPr>
              <a:t> e imputación MAR y es la </a:t>
            </a:r>
            <a:r>
              <a:rPr lang="en-US" sz="1600" b="1" dirty="0" err="1">
                <a:solidFill>
                  <a:srgbClr val="8A2060"/>
                </a:solidFill>
              </a:rPr>
              <a:t>única</a:t>
            </a:r>
            <a:r>
              <a:rPr lang="en-US" sz="1600" b="1" dirty="0">
                <a:solidFill>
                  <a:srgbClr val="8A2060"/>
                </a:solidFill>
              </a:rPr>
              <a:t> </a:t>
            </a:r>
            <a:r>
              <a:rPr lang="en-US" sz="1600" b="1" dirty="0" err="1">
                <a:solidFill>
                  <a:srgbClr val="8A2060"/>
                </a:solidFill>
              </a:rPr>
              <a:t>opción</a:t>
            </a:r>
            <a:r>
              <a:rPr lang="en-US" sz="1600" b="1" dirty="0">
                <a:solidFill>
                  <a:srgbClr val="8A2060"/>
                </a:solidFill>
              </a:rPr>
              <a:t> en NADIA para </a:t>
            </a:r>
            <a:r>
              <a:rPr lang="en-US" sz="1600" b="1" dirty="0" err="1">
                <a:solidFill>
                  <a:srgbClr val="8A2060"/>
                </a:solidFill>
              </a:rPr>
              <a:t>evaluar</a:t>
            </a:r>
            <a:r>
              <a:rPr lang="en-US" sz="1600" b="1" dirty="0">
                <a:solidFill>
                  <a:srgbClr val="8A2060"/>
                </a:solidFill>
              </a:rPr>
              <a:t> </a:t>
            </a:r>
            <a:r>
              <a:rPr lang="en-US" sz="1600" b="1" dirty="0" err="1">
                <a:solidFill>
                  <a:srgbClr val="8A2060"/>
                </a:solidFill>
              </a:rPr>
              <a:t>métodos</a:t>
            </a:r>
            <a:r>
              <a:rPr lang="en-US" sz="1600" b="1" dirty="0">
                <a:solidFill>
                  <a:srgbClr val="8A2060"/>
                </a:solidFill>
              </a:rPr>
              <a:t> de imputación MNAR.</a:t>
            </a:r>
            <a:endParaRPr lang="en-US" sz="16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7A99F52-6DDF-43A5-94E6-936876A055ED}"/>
              </a:ext>
            </a:extLst>
          </p:cNvPr>
          <p:cNvGrpSpPr/>
          <p:nvPr/>
        </p:nvGrpSpPr>
        <p:grpSpPr>
          <a:xfrm>
            <a:off x="6638926" y="3814868"/>
            <a:ext cx="3474720" cy="822960"/>
            <a:chOff x="5120640" y="3383280"/>
            <a:chExt cx="3474720" cy="822960"/>
          </a:xfrm>
        </p:grpSpPr>
        <p:sp>
          <p:nvSpPr>
            <p:cNvPr id="30" name="box_benchmarking"/>
            <p:cNvSpPr/>
            <p:nvPr/>
          </p:nvSpPr>
          <p:spPr>
            <a:xfrm>
              <a:off x="5120640" y="3383280"/>
              <a:ext cx="3474720" cy="822960"/>
            </a:xfrm>
            <a:prstGeom prst="roundRect">
              <a:avLst>
                <a:gd name="adj" fmla="val 8889"/>
              </a:avLst>
            </a:prstGeom>
            <a:solidFill>
              <a:srgbClr val="F7D8E8"/>
            </a:solidFill>
            <a:ln w="28575">
              <a:solidFill>
                <a:srgbClr val="8A2060"/>
              </a:solidFill>
              <a:prstDash val="dash"/>
            </a:ln>
          </p:spPr>
        </p:sp>
        <p:sp>
          <p:nvSpPr>
            <p:cNvPr id="31" name="text_spikein_label"/>
            <p:cNvSpPr txBox="1"/>
            <p:nvPr/>
          </p:nvSpPr>
          <p:spPr>
            <a:xfrm>
              <a:off x="5166360" y="3401568"/>
              <a:ext cx="33832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i="1" dirty="0">
                  <a:solidFill>
                    <a:srgbClr val="8A2A5A"/>
                  </a:solidFill>
                </a:rPr>
                <a:t>Cuando hay proteínas spike-in disponibles</a:t>
              </a:r>
              <a:endParaRPr lang="en-US" sz="900" dirty="0"/>
            </a:p>
          </p:txBody>
        </p:sp>
        <p:sp>
          <p:nvSpPr>
            <p:cNvPr id="32" name="text_benchmarking_title"/>
            <p:cNvSpPr txBox="1"/>
            <p:nvPr/>
          </p:nvSpPr>
          <p:spPr>
            <a:xfrm>
              <a:off x="5120640" y="3602736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8A2060"/>
                  </a:solidFill>
                </a:rPr>
                <a:t>Benchmarking con proteínas spike-in</a:t>
              </a:r>
              <a:endParaRPr lang="en-US" sz="1400" dirty="0"/>
            </a:p>
          </p:txBody>
        </p:sp>
        <p:sp>
          <p:nvSpPr>
            <p:cNvPr id="33" name="text_benchmarking_func"/>
            <p:cNvSpPr txBox="1"/>
            <p:nvPr/>
          </p:nvSpPr>
          <p:spPr>
            <a:xfrm>
              <a:off x="5120640" y="3858768"/>
              <a:ext cx="34747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8A2A5A"/>
                  </a:solidFill>
                </a:rPr>
                <a:t>benchmarking_proteomics()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i="1" dirty="0">
                  <a:solidFill>
                    <a:srgbClr val="8A2A5A"/>
                  </a:solidFill>
                </a:rPr>
                <a:t>benchmarking_multiple()</a:t>
              </a:r>
              <a:endParaRPr lang="en-US" sz="10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BFA6531-D3E8-4516-870B-E8FBC0B457B0}"/>
              </a:ext>
            </a:extLst>
          </p:cNvPr>
          <p:cNvGrpSpPr/>
          <p:nvPr/>
        </p:nvGrpSpPr>
        <p:grpSpPr>
          <a:xfrm>
            <a:off x="1265428" y="5462354"/>
            <a:ext cx="3520425" cy="685800"/>
            <a:chOff x="502919" y="4800600"/>
            <a:chExt cx="3520425" cy="685800"/>
          </a:xfrm>
        </p:grpSpPr>
        <p:sp>
          <p:nvSpPr>
            <p:cNvPr id="35" name="box_proteinas"/>
            <p:cNvSpPr/>
            <p:nvPr/>
          </p:nvSpPr>
          <p:spPr>
            <a:xfrm>
              <a:off x="502919" y="4800600"/>
              <a:ext cx="3520425" cy="685800"/>
            </a:xfrm>
            <a:prstGeom prst="roundRect">
              <a:avLst>
                <a:gd name="adj" fmla="val 10667"/>
              </a:avLst>
            </a:prstGeom>
            <a:solidFill>
              <a:srgbClr val="D0DAF0"/>
            </a:solidFill>
            <a:ln w="19050">
              <a:solidFill>
                <a:srgbClr val="4A72B8"/>
              </a:solidFill>
              <a:prstDash val="solid"/>
            </a:ln>
          </p:spPr>
        </p:sp>
        <p:sp>
          <p:nvSpPr>
            <p:cNvPr id="36" name="text_proteinas"/>
            <p:cNvSpPr txBox="1"/>
            <p:nvPr/>
          </p:nvSpPr>
          <p:spPr>
            <a:xfrm>
              <a:off x="617211" y="4835822"/>
              <a:ext cx="32918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A3A6B"/>
                  </a:solidFill>
                </a:rPr>
                <a:t>Proteínas expresadas diferencialmente</a:t>
              </a:r>
              <a:endParaRPr lang="en-US" sz="1600" dirty="0"/>
            </a:p>
          </p:txBody>
        </p:sp>
        <p:sp>
          <p:nvSpPr>
            <p:cNvPr id="37" name="text_proteinas_func"/>
            <p:cNvSpPr txBox="1"/>
            <p:nvPr/>
          </p:nvSpPr>
          <p:spPr>
            <a:xfrm>
              <a:off x="617211" y="5155862"/>
              <a:ext cx="32918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2A4A8A"/>
                  </a:solidFill>
                </a:rPr>
                <a:t>process_proteomics()</a:t>
              </a:r>
              <a:endParaRPr lang="en-US" sz="1000" dirty="0"/>
            </a:p>
          </p:txBody>
        </p:sp>
      </p:grpSp>
      <p:sp>
        <p:nvSpPr>
          <p:cNvPr id="38" name="arrow_norm_to_prot"/>
          <p:cNvSpPr/>
          <p:nvPr/>
        </p:nvSpPr>
        <p:spPr>
          <a:xfrm>
            <a:off x="2345266" y="4342650"/>
            <a:ext cx="678504" cy="1119692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  <a:tailEnd type="arrow"/>
          </a:ln>
        </p:spPr>
      </p:sp>
      <p:sp>
        <p:nvSpPr>
          <p:cNvPr id="41" name="text_mejores_metodos"/>
          <p:cNvSpPr txBox="1"/>
          <p:nvPr/>
        </p:nvSpPr>
        <p:spPr>
          <a:xfrm>
            <a:off x="6414573" y="4809913"/>
            <a:ext cx="259553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2A5A"/>
                </a:solidFill>
              </a:rPr>
              <a:t>Mejores métodos de normalización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2A5A"/>
                </a:solidFill>
              </a:rPr>
              <a:t>e imputación</a:t>
            </a:r>
            <a:endParaRPr lang="en-US" sz="1100" dirty="0"/>
          </a:p>
        </p:txBody>
      </p:sp>
      <p:sp>
        <p:nvSpPr>
          <p:cNvPr id="42" name="text_metodos_sel"/>
          <p:cNvSpPr txBox="1"/>
          <p:nvPr/>
        </p:nvSpPr>
        <p:spPr>
          <a:xfrm>
            <a:off x="280571" y="4785667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A6B"/>
                </a:solidFill>
              </a:rPr>
              <a:t>Métodos de normalización 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3A6B"/>
                </a:solidFill>
              </a:rPr>
              <a:t>imputación seleccionados</a:t>
            </a:r>
            <a:endParaRPr lang="en-US" sz="1100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81180BF-A4DE-46DD-988C-6FD8BEF50517}"/>
              </a:ext>
            </a:extLst>
          </p:cNvPr>
          <p:cNvGrpSpPr/>
          <p:nvPr/>
        </p:nvGrpSpPr>
        <p:grpSpPr>
          <a:xfrm>
            <a:off x="8961120" y="4973659"/>
            <a:ext cx="2560320" cy="502920"/>
            <a:chOff x="8961120" y="4389120"/>
            <a:chExt cx="2560320" cy="502920"/>
          </a:xfrm>
        </p:grpSpPr>
        <p:sp>
          <p:nvSpPr>
            <p:cNvPr id="43" name="box_funcional"/>
            <p:cNvSpPr/>
            <p:nvPr/>
          </p:nvSpPr>
          <p:spPr>
            <a:xfrm>
              <a:off x="8961120" y="4389120"/>
              <a:ext cx="2560320" cy="502920"/>
            </a:xfrm>
            <a:prstGeom prst="roundRect">
              <a:avLst>
                <a:gd name="adj" fmla="val 14545"/>
              </a:avLst>
            </a:prstGeom>
            <a:solidFill>
              <a:srgbClr val="D0DAF0"/>
            </a:solidFill>
            <a:ln w="19050">
              <a:solidFill>
                <a:srgbClr val="4A72B8"/>
              </a:solidFill>
              <a:prstDash val="solid"/>
            </a:ln>
          </p:spPr>
        </p:sp>
        <p:sp>
          <p:nvSpPr>
            <p:cNvPr id="44" name="text_funcional"/>
            <p:cNvSpPr txBox="1"/>
            <p:nvPr/>
          </p:nvSpPr>
          <p:spPr>
            <a:xfrm>
              <a:off x="8961120" y="4407408"/>
              <a:ext cx="25603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A3A6B"/>
                  </a:solidFill>
                </a:rPr>
                <a:t>Análisis funcional</a:t>
              </a:r>
              <a:endParaRPr lang="en-US" sz="1600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F69F528-83CF-4F87-AF6F-A801EB6E292B}"/>
              </a:ext>
            </a:extLst>
          </p:cNvPr>
          <p:cNvGrpSpPr/>
          <p:nvPr/>
        </p:nvGrpSpPr>
        <p:grpSpPr>
          <a:xfrm>
            <a:off x="8961120" y="5705179"/>
            <a:ext cx="2560320" cy="640080"/>
            <a:chOff x="8961120" y="5303520"/>
            <a:chExt cx="2560320" cy="640080"/>
          </a:xfrm>
        </p:grpSpPr>
        <p:sp>
          <p:nvSpPr>
            <p:cNvPr id="45" name="box_patrones"/>
            <p:cNvSpPr/>
            <p:nvPr/>
          </p:nvSpPr>
          <p:spPr>
            <a:xfrm>
              <a:off x="8961120" y="5303520"/>
              <a:ext cx="2560320" cy="640080"/>
            </a:xfrm>
            <a:prstGeom prst="roundRect">
              <a:avLst>
                <a:gd name="adj" fmla="val 11429"/>
              </a:avLst>
            </a:prstGeom>
            <a:solidFill>
              <a:srgbClr val="D0DAF0"/>
            </a:solidFill>
            <a:ln w="19050">
              <a:solidFill>
                <a:srgbClr val="4A72B8"/>
              </a:solidFill>
              <a:prstDash val="dash"/>
            </a:ln>
          </p:spPr>
        </p:sp>
        <p:sp>
          <p:nvSpPr>
            <p:cNvPr id="46" name="text_patrones"/>
            <p:cNvSpPr txBox="1"/>
            <p:nvPr/>
          </p:nvSpPr>
          <p:spPr>
            <a:xfrm>
              <a:off x="8961120" y="5321808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A3A6B"/>
                  </a:solidFill>
                </a:rPr>
                <a:t>Perfilado de patrones</a:t>
              </a:r>
              <a:endParaRPr lang="en-US" sz="1600" dirty="0"/>
            </a:p>
          </p:txBody>
        </p:sp>
        <p:sp>
          <p:nvSpPr>
            <p:cNvPr id="47" name="text_patrones_func"/>
            <p:cNvSpPr txBox="1"/>
            <p:nvPr/>
          </p:nvSpPr>
          <p:spPr>
            <a:xfrm>
              <a:off x="8961120" y="5641848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2A4A8A"/>
                  </a:solidFill>
                </a:rPr>
                <a:t>paquete Mfuzz</a:t>
              </a:r>
              <a:endParaRPr lang="en-US" sz="1000" dirty="0"/>
            </a:p>
          </p:txBody>
        </p:sp>
      </p:grpSp>
      <p:sp>
        <p:nvSpPr>
          <p:cNvPr id="48" name="arrow_prot_to_func"/>
          <p:cNvSpPr/>
          <p:nvPr/>
        </p:nvSpPr>
        <p:spPr>
          <a:xfrm flipV="1">
            <a:off x="4785852" y="5230537"/>
            <a:ext cx="4175267" cy="541359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  <a:tailEnd type="arrow"/>
          </a:ln>
        </p:spPr>
      </p:sp>
      <p:sp>
        <p:nvSpPr>
          <p:cNvPr id="49" name="arrow_prot_to_pat"/>
          <p:cNvSpPr/>
          <p:nvPr/>
        </p:nvSpPr>
        <p:spPr>
          <a:xfrm>
            <a:off x="4785852" y="5806610"/>
            <a:ext cx="4175267" cy="248749"/>
          </a:xfrm>
          <a:prstGeom prst="line">
            <a:avLst/>
          </a:prstGeom>
          <a:noFill/>
          <a:ln w="19050">
            <a:solidFill>
              <a:srgbClr val="1A3A6B"/>
            </a:solidFill>
            <a:prstDash val="dash"/>
            <a:tailEnd type="arrow"/>
          </a:ln>
        </p:spPr>
        <p:txBody>
          <a:bodyPr/>
          <a:lstStyle/>
          <a:p>
            <a:endParaRPr lang="es-ES" dirty="0"/>
          </a:p>
        </p:txBody>
      </p:sp>
      <p:sp>
        <p:nvSpPr>
          <p:cNvPr id="57" name="arrow_norm_to_prot">
            <a:extLst>
              <a:ext uri="{FF2B5EF4-FFF2-40B4-BE49-F238E27FC236}">
                <a16:creationId xmlns:a16="http://schemas.microsoft.com/office/drawing/2014/main" id="{F11EC694-3FE5-4651-BEDF-6E6B7A61CBA5}"/>
              </a:ext>
            </a:extLst>
          </p:cNvPr>
          <p:cNvSpPr/>
          <p:nvPr/>
        </p:nvSpPr>
        <p:spPr>
          <a:xfrm flipH="1">
            <a:off x="3023771" y="4342650"/>
            <a:ext cx="770989" cy="1105914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  <a:tailEnd type="arrow"/>
          </a:ln>
        </p:spPr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2B2E47C-00C2-43DA-BD9E-9C21DA2AB206}"/>
              </a:ext>
            </a:extLst>
          </p:cNvPr>
          <p:cNvGrpSpPr/>
          <p:nvPr/>
        </p:nvGrpSpPr>
        <p:grpSpPr>
          <a:xfrm>
            <a:off x="230630" y="3371428"/>
            <a:ext cx="2631093" cy="936000"/>
            <a:chOff x="256032" y="3337560"/>
            <a:chExt cx="2286000" cy="936000"/>
          </a:xfrm>
        </p:grpSpPr>
        <p:sp>
          <p:nvSpPr>
            <p:cNvPr id="22" name="box_norm"/>
            <p:cNvSpPr/>
            <p:nvPr/>
          </p:nvSpPr>
          <p:spPr>
            <a:xfrm>
              <a:off x="256032" y="3337560"/>
              <a:ext cx="2286000" cy="936000"/>
            </a:xfrm>
            <a:prstGeom prst="roundRect">
              <a:avLst>
                <a:gd name="adj" fmla="val 8889"/>
              </a:avLst>
            </a:prstGeom>
            <a:solidFill>
              <a:srgbClr val="D0DAF0"/>
            </a:solidFill>
            <a:ln w="15240">
              <a:solidFill>
                <a:srgbClr val="4A72B8"/>
              </a:solidFill>
              <a:prstDash val="solid"/>
            </a:ln>
          </p:spPr>
        </p:sp>
        <p:sp>
          <p:nvSpPr>
            <p:cNvPr id="23" name="text_norm"/>
            <p:cNvSpPr txBox="1"/>
            <p:nvPr/>
          </p:nvSpPr>
          <p:spPr>
            <a:xfrm>
              <a:off x="256033" y="3355848"/>
              <a:ext cx="2285999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A3A6B"/>
                  </a:solidFill>
                </a:rPr>
                <a:t>Análisis de </a:t>
              </a:r>
              <a:r>
                <a:rPr lang="en-US" sz="1400" b="1" dirty="0" err="1">
                  <a:solidFill>
                    <a:srgbClr val="1A3A6B"/>
                  </a:solidFill>
                </a:rPr>
                <a:t>métricas</a:t>
              </a:r>
              <a:r>
                <a:rPr lang="en-US" sz="1400" b="1" dirty="0">
                  <a:solidFill>
                    <a:srgbClr val="1A3A6B"/>
                  </a:solidFill>
                </a:rPr>
                <a:t> de normalización</a:t>
              </a:r>
              <a:endParaRPr lang="en-US" sz="1400" dirty="0"/>
            </a:p>
          </p:txBody>
        </p:sp>
        <p:sp>
          <p:nvSpPr>
            <p:cNvPr id="24" name="text_norm_func"/>
            <p:cNvSpPr txBox="1"/>
            <p:nvPr/>
          </p:nvSpPr>
          <p:spPr>
            <a:xfrm>
              <a:off x="347472" y="3813048"/>
              <a:ext cx="21031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2A4A8A"/>
                  </a:solidFill>
                </a:rPr>
                <a:t>nm_prepare_se()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i="1" dirty="0">
                  <a:solidFill>
                    <a:srgbClr val="2A4A8A"/>
                  </a:solidFill>
                </a:rPr>
                <a:t>normalization_metrics()</a:t>
              </a:r>
              <a:endParaRPr lang="en-US" sz="100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65C0A78-F9BF-40F6-A964-452957C1988A}"/>
              </a:ext>
            </a:extLst>
          </p:cNvPr>
          <p:cNvGrpSpPr/>
          <p:nvPr/>
        </p:nvGrpSpPr>
        <p:grpSpPr>
          <a:xfrm>
            <a:off x="3103879" y="3371428"/>
            <a:ext cx="2631093" cy="936000"/>
            <a:chOff x="3129281" y="3337560"/>
            <a:chExt cx="2286000" cy="936000"/>
          </a:xfrm>
        </p:grpSpPr>
        <p:sp>
          <p:nvSpPr>
            <p:cNvPr id="25" name="box_imp"/>
            <p:cNvSpPr/>
            <p:nvPr/>
          </p:nvSpPr>
          <p:spPr>
            <a:xfrm>
              <a:off x="3129281" y="3337560"/>
              <a:ext cx="2286000" cy="936000"/>
            </a:xfrm>
            <a:prstGeom prst="roundRect">
              <a:avLst>
                <a:gd name="adj" fmla="val 7619"/>
              </a:avLst>
            </a:prstGeom>
            <a:solidFill>
              <a:srgbClr val="D0DAF0"/>
            </a:solidFill>
            <a:ln w="15240">
              <a:solidFill>
                <a:srgbClr val="4A72B8"/>
              </a:solidFill>
              <a:prstDash val="solid"/>
            </a:ln>
          </p:spPr>
        </p:sp>
        <p:sp>
          <p:nvSpPr>
            <p:cNvPr id="26" name="text_imp"/>
            <p:cNvSpPr txBox="1"/>
            <p:nvPr/>
          </p:nvSpPr>
          <p:spPr>
            <a:xfrm>
              <a:off x="3129281" y="3355848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A3A6B"/>
                  </a:solidFill>
                </a:rPr>
                <a:t>Análisis de </a:t>
              </a:r>
              <a:r>
                <a:rPr lang="en-US" sz="1400" b="1" dirty="0" err="1">
                  <a:solidFill>
                    <a:srgbClr val="1A3A6B"/>
                  </a:solidFill>
                </a:rPr>
                <a:t>métricas</a:t>
              </a:r>
              <a:r>
                <a:rPr lang="en-US" sz="1400" b="1" dirty="0">
                  <a:solidFill>
                    <a:srgbClr val="1A3A6B"/>
                  </a:solidFill>
                </a:rPr>
                <a:t> de </a:t>
              </a:r>
            </a:p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1A3A6B"/>
                  </a:solidFill>
                </a:rPr>
                <a:t>imputación</a:t>
              </a:r>
              <a:endParaRPr lang="en-US" sz="1400" dirty="0"/>
            </a:p>
          </p:txBody>
        </p:sp>
        <p:sp>
          <p:nvSpPr>
            <p:cNvPr id="27" name="text_imp_sub"/>
            <p:cNvSpPr txBox="1"/>
            <p:nvPr/>
          </p:nvSpPr>
          <p:spPr>
            <a:xfrm>
              <a:off x="3129281" y="3721608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A3A6B"/>
                  </a:solidFill>
                </a:rPr>
                <a:t>(para NAs MAR)</a:t>
              </a:r>
              <a:endParaRPr lang="en-US" sz="900" dirty="0"/>
            </a:p>
          </p:txBody>
        </p:sp>
        <p:sp>
          <p:nvSpPr>
            <p:cNvPr id="28" name="text_imp_func"/>
            <p:cNvSpPr txBox="1"/>
            <p:nvPr/>
          </p:nvSpPr>
          <p:spPr>
            <a:xfrm>
              <a:off x="3129281" y="3922776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2A4A8A"/>
                  </a:solidFill>
                </a:rPr>
                <a:t>im_prepare_se()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i="1" dirty="0">
                  <a:solidFill>
                    <a:srgbClr val="2A4A8A"/>
                  </a:solidFill>
                </a:rPr>
                <a:t>imputation_metrics()</a:t>
              </a:r>
              <a:endParaRPr lang="en-US" sz="1000" dirty="0"/>
            </a:p>
          </p:txBody>
        </p:sp>
      </p:grpSp>
      <p:sp>
        <p:nvSpPr>
          <p:cNvPr id="60" name="arrow_prot_to_pat">
            <a:extLst>
              <a:ext uri="{FF2B5EF4-FFF2-40B4-BE49-F238E27FC236}">
                <a16:creationId xmlns:a16="http://schemas.microsoft.com/office/drawing/2014/main" id="{D0D5458C-F3A1-42D5-A788-FC3F0EA707B3}"/>
              </a:ext>
            </a:extLst>
          </p:cNvPr>
          <p:cNvSpPr/>
          <p:nvPr/>
        </p:nvSpPr>
        <p:spPr>
          <a:xfrm flipV="1">
            <a:off x="4722705" y="4276683"/>
            <a:ext cx="1863639" cy="1148811"/>
          </a:xfrm>
          <a:prstGeom prst="line">
            <a:avLst/>
          </a:prstGeom>
          <a:noFill/>
          <a:ln w="19050">
            <a:solidFill>
              <a:srgbClr val="8A2060"/>
            </a:solidFill>
            <a:prstDash val="dash"/>
            <a:tailEnd type="arrow"/>
          </a:ln>
        </p:spPr>
        <p:txBody>
          <a:bodyPr/>
          <a:lstStyle/>
          <a:p>
            <a:endParaRPr lang="es-ES" dirty="0"/>
          </a:p>
        </p:txBody>
      </p:sp>
      <p:sp>
        <p:nvSpPr>
          <p:cNvPr id="61" name="arrow_prot_to_pat">
            <a:extLst>
              <a:ext uri="{FF2B5EF4-FFF2-40B4-BE49-F238E27FC236}">
                <a16:creationId xmlns:a16="http://schemas.microsoft.com/office/drawing/2014/main" id="{A56C8B3E-6A03-4265-BAA5-95FF4EC7DFF9}"/>
              </a:ext>
            </a:extLst>
          </p:cNvPr>
          <p:cNvSpPr/>
          <p:nvPr/>
        </p:nvSpPr>
        <p:spPr>
          <a:xfrm rot="10800000" flipV="1">
            <a:off x="4773689" y="4673188"/>
            <a:ext cx="2220270" cy="842410"/>
          </a:xfrm>
          <a:prstGeom prst="line">
            <a:avLst/>
          </a:prstGeom>
          <a:noFill/>
          <a:ln w="19050">
            <a:solidFill>
              <a:srgbClr val="8A2060"/>
            </a:solidFill>
            <a:prstDash val="dash"/>
            <a:tailEnd type="arrow"/>
          </a:ln>
        </p:spPr>
        <p:txBody>
          <a:bodyPr/>
          <a:lstStyle/>
          <a:p>
            <a:endParaRPr lang="es-E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144</Words>
  <Application>Microsoft Office PowerPoint</Application>
  <PresentationFormat>Widescreen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Proteomica</cp:lastModifiedBy>
  <cp:revision>4</cp:revision>
  <dcterms:created xsi:type="dcterms:W3CDTF">2026-10-14T09:03:11Z</dcterms:created>
  <dcterms:modified xsi:type="dcterms:W3CDTF">2026-10-14T09:59:18Z</dcterms:modified>
</cp:coreProperties>
</file>